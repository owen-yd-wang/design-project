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6" r:id="rId17"/>
    <p:sldId id="267" r:id="rId18"/>
    <p:sldId id="268" r:id="rId19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2FF"/>
                </a:solidFill>
              </a:defRPr>
            </a:pPr>
            <a:r>
              <a:t>Tiny CNN Image Classifier on Basys 3 FPGA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</a:defRPr>
            </a:pPr>
            <a:r>
              <a:t>Real-Time CIFAR-10 Classification on Low-Cost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Che Li  &amp;  Owen Wang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Faculty Advisors: Prof. Ramesh Karri &amp; Prof. Weihua Xiao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Cognichip Platform  |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2FF"/>
                </a:solidFill>
              </a:defRPr>
            </a:pPr>
            <a:r>
              <a:t>github.com/Owen-yd-Wang/Design-Project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303520" cy="2286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Edge AI needs: warehouses, factories, drones need real-time image classification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GPU solutions cost $500-$2000+, draw 200W+, need internet or bulky servers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Small businesses can't justify this cost for simple classification tasks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Standard CNN models (MobileNetV2: 13.3 MB) are far too large for cheap FPGAs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303520" cy="2286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</a:defRPr>
            </a:pPr>
            <a:r>
              <a:t>Our Target: Basys 3 FPGA ($150)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Xilinx Artix-7 XC7A35T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225 KB Block RAM (no external DRAM!)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90 DSP48E1 slices (multiply-accumulate units)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20,800 LUTs, 41,600 flip-flops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11064240" cy="2286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</a:defRPr>
            </a:pPr>
            <a: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Design a custom tiny CNN (~48K params) that fits entirely in on-chip BRAM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Quantize to int8 (47 KB) -- only 29% of available BRAM, leaving room for control logic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Verify with behavioral FPGA simulation before writing RTL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Result: 4,008 images/sec, $150 hardware cost, &lt;5W power, no internet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Design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Using the Cognichip Co-Design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737360" cy="25603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</a:defRPr>
            </a:pPr>
            <a:r>
              <a:t>1. Model Design</a:t>
            </a:r>
            <a:br/>
            <a:r>
              <a:t>(Python/PyTorch)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Design tiny CNN</a:t>
            </a:r>
            <a:br/>
            <a:r>
              <a:t>architecture</a:t>
            </a:r>
            <a:br/>
            <a:r>
              <a:t>~48K parameters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645920"/>
            <a:ext cx="1737360" cy="25603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7373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</a:defRPr>
            </a:pPr>
            <a:r>
              <a:t>2. Train &amp; Evaluate</a:t>
            </a:r>
            <a:br/>
            <a:r>
              <a:t>(CIFAR-10)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46888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30 epochs, Adam</a:t>
            </a:r>
            <a:br/>
            <a:r>
              <a:t>F1 = 0.74</a:t>
            </a:r>
            <a:br/>
            <a:r>
              <a:t>74%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45920"/>
            <a:ext cx="1737360" cy="25603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7373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</a:defRPr>
            </a:pPr>
            <a:r>
              <a:t>3. Quantize</a:t>
            </a:r>
            <a:br/>
            <a:r>
              <a:t>(ONNX Runtime)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46888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Float32 -&gt; Int8</a:t>
            </a:r>
            <a:br/>
            <a:r>
              <a:t>4x size reduction</a:t>
            </a:r>
            <a:br/>
            <a:r>
              <a:t>&lt;0.1% accuracy loss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1737360" cy="25603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373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</a:defRPr>
            </a:pPr>
            <a:r>
              <a:t>4. FPGA Simulation</a:t>
            </a:r>
            <a:br/>
            <a:r>
              <a:t>(Behavioral)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46888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Int8 arithmetic</a:t>
            </a:r>
            <a:br/>
            <a:r>
              <a:t>Clock cycles, BRAM</a:t>
            </a:r>
            <a:br/>
            <a:r>
              <a:t>Throughput 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1737360" cy="25603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7373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</a:defRPr>
            </a:pPr>
            <a:r>
              <a:t>5. RTL Design</a:t>
            </a:r>
            <a:br/>
            <a:r>
              <a:t>(SystemVerilog)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46888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MAC unit, datapath</a:t>
            </a:r>
            <a:br/>
            <a:r>
              <a:t>Control FSM</a:t>
            </a:r>
            <a:br/>
            <a:r>
              <a:t>BRAM 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0" y="1645920"/>
            <a:ext cx="1737360" cy="25603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0" y="17373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</a:defRPr>
            </a:pPr>
            <a:r>
              <a:t>6. Synthesis</a:t>
            </a:r>
            <a:br/>
            <a:r>
              <a:t>(Vivado)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246888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Target: XC7A35T</a:t>
            </a:r>
            <a:br/>
            <a:r>
              <a:t>Timing closure</a:t>
            </a:r>
            <a:br/>
            <a:r>
              <a:t>Resource report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72000"/>
            <a:ext cx="11064240" cy="1828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663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Cognichip Co-Design Approach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Software-hardware co-design: model architecture decisions driven by FPGA resource constraints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Behavioral simulation validates feasibility BEFORE committing to RTL -- saves weeks of iteration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Python golden model provides reference outputs for RTL verification (layer-by-layer comparison)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FINN framework concepts: streaming dataflow, int8 quantization, DSP-efficient MAC operations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CNN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371600"/>
            <a:ext cx="1051560" cy="2011680"/>
          </a:xfrm>
          <a:prstGeom prst="rect">
            <a:avLst/>
          </a:prstGeom>
          <a:solidFill>
            <a:srgbClr val="4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463040"/>
            <a:ext cx="960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Input</a:t>
            </a:r>
            <a:br/>
            <a:r>
              <a:t>3x32x32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92608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</a:defRPr>
            </a:pPr>
            <a:r>
              <a:t>3,072 B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4752" y="1371600"/>
            <a:ext cx="1051560" cy="2011680"/>
          </a:xfrm>
          <a:prstGeom prst="rect">
            <a:avLst/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0472" y="1463040"/>
            <a:ext cx="960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Conv1 3-&gt;16</a:t>
            </a:r>
            <a:br/>
            <a:r>
              <a:t>3x3, pad=1</a:t>
            </a:r>
            <a:br/>
            <a:r>
              <a:t>ReLU+Pool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292608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</a:defRPr>
            </a:pPr>
            <a:r>
              <a:t>432 wt</a:t>
            </a:r>
          </a:p>
        </p:txBody>
      </p:sp>
      <p:sp>
        <p:nvSpPr>
          <p:cNvPr id="9" name="Rectangle 8"/>
          <p:cNvSpPr/>
          <p:nvPr/>
        </p:nvSpPr>
        <p:spPr>
          <a:xfrm>
            <a:off x="2615184" y="1371600"/>
            <a:ext cx="1051560" cy="2011680"/>
          </a:xfrm>
          <a:prstGeom prst="rect">
            <a:avLst/>
          </a:prstGeom>
          <a:solidFill>
            <a:srgbClr val="4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60903" y="1463040"/>
            <a:ext cx="960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16x16x16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0903" y="292608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</a:defRPr>
            </a:pPr>
            <a:r>
              <a:t>4,096 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5615" y="1371600"/>
            <a:ext cx="1051560" cy="2011680"/>
          </a:xfrm>
          <a:prstGeom prst="rect">
            <a:avLst/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31335" y="1463040"/>
            <a:ext cx="960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Conv2 16-&gt;32</a:t>
            </a:r>
            <a:br/>
            <a:r>
              <a:t>3x3, pad=1</a:t>
            </a:r>
            <a:br/>
            <a:r>
              <a:t>ReLU+Pool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5" y="292608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</a:defRPr>
            </a:pPr>
            <a:r>
              <a:t>4,608 wt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56048" y="1371600"/>
            <a:ext cx="1051560" cy="2011680"/>
          </a:xfrm>
          <a:prstGeom prst="rect">
            <a:avLst/>
          </a:prstGeom>
          <a:solidFill>
            <a:srgbClr val="4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1768" y="1463040"/>
            <a:ext cx="960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32x8x8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292608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</a:defRPr>
            </a:pPr>
            <a:r>
              <a:t>2,048 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371600"/>
            <a:ext cx="1051560" cy="2011680"/>
          </a:xfrm>
          <a:prstGeom prst="rect">
            <a:avLst/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463040"/>
            <a:ext cx="960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Conv3 32-&gt;32</a:t>
            </a:r>
            <a:br/>
            <a:r>
              <a:t>3x3, pad=1</a:t>
            </a:r>
            <a:br/>
            <a:r>
              <a:t>ReLU+Pool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92608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</a:defRPr>
            </a:pPr>
            <a:r>
              <a:t>9,216 wt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96912" y="1371600"/>
            <a:ext cx="1051560" cy="2011680"/>
          </a:xfrm>
          <a:prstGeom prst="rect">
            <a:avLst/>
          </a:prstGeom>
          <a:solidFill>
            <a:srgbClr val="4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42631" y="1463040"/>
            <a:ext cx="960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32x4x4</a:t>
            </a:r>
            <a:br/>
            <a:r>
              <a:t>= 512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2631" y="292608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</a:defRPr>
            </a:pPr>
            <a:r>
              <a:t>512 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67344" y="1371600"/>
            <a:ext cx="1051560" cy="2011680"/>
          </a:xfrm>
          <a:prstGeom prst="rect">
            <a:avLst/>
          </a:prstGeom>
          <a:solidFill>
            <a:srgbClr val="00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13064" y="1463040"/>
            <a:ext cx="960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FC1</a:t>
            </a:r>
            <a:br/>
            <a:r>
              <a:t>512-&gt;64</a:t>
            </a:r>
            <a:br/>
            <a:r>
              <a:t>ReLU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13064" y="292608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</a:defRPr>
            </a:pPr>
            <a:r>
              <a:t>32,768 wt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37776" y="1371600"/>
            <a:ext cx="1051560" cy="2011680"/>
          </a:xfrm>
          <a:prstGeom prst="rect">
            <a:avLst/>
          </a:prstGeom>
          <a:solidFill>
            <a:srgbClr val="00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83496" y="1463040"/>
            <a:ext cx="960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FC2</a:t>
            </a:r>
            <a:br/>
            <a:r>
              <a:t>64-&gt;10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3496" y="2926080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</a:defRPr>
            </a:pPr>
            <a:r>
              <a:t>640 wt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808208" y="1371600"/>
            <a:ext cx="1051560" cy="2011680"/>
          </a:xfrm>
          <a:prstGeom prst="rect">
            <a:avLst/>
          </a:prstGeom>
          <a:solidFill>
            <a:srgbClr val="4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53928" y="1463040"/>
            <a:ext cx="960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Output</a:t>
            </a:r>
            <a:br/>
            <a:r>
              <a:t>10 classes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40480"/>
            <a:ext cx="5303520" cy="2743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931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Model Summary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3891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Total parameters: 47,818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Float32 size: 186.8 KB (too big for Basys 3)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Int8 size: 46.7 KB (fits comfortably!)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Total MACs per inference: 2,245,248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Bottleneck: Conv2 (52.5% of compute)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840480"/>
            <a:ext cx="5303520" cy="2743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3931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Why This Architecture?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3891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3 conv layers: enough depth for CIFAR-10 features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MaxPool after each conv: reduces activation size 4x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Small channel counts (16, 32): keeps weight memory low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Only 2 FC layers: FC1 dominates weight count (32K/48K)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All ops map to DSP48E1 (multiply-accumulate)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RTL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MAC Unit (mac_uint8_int32.sv)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Core compute element: uint8 x uint8 -&gt; int32 accumulator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Maps directly to DSP48E1 slice (1 MAC/cycle)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Synchronous clear for new dot products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Enable control for pipeline stalling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Registered outputs for timing 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CCCC"/>
                </a:solidFill>
              </a:defRPr>
            </a:pPr>
            <a:r>
              <a:t>Data Flow per Convolution Output Pixel: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1. Clear accumulator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2. Stream in (data, weight) pairs each cycle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3. Conv1: 27 cycles (3x3x3 kernel)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4. Conv2: 144 cycles (3x3x16 kernel)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5. Conv3: 288 cycles (3x3x32 kernel)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6. Read out int32 result, rescale, requantize to int8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03520" cy="5029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Full System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Weight BRAM: 47 KB stored at initialization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- Address offsets per layer for sequential loading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Activation double-buffer: ping-pong between layers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- Read input from buffer A, write output to buffer B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- Swap for next layer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Control FSM: sequences through 5 layers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- Conv1 -&gt; Conv2 -&gt; Conv3 -&gt; FC1 -&gt; FC2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- Manages address generation, enable, clear signals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Line buffer for convolution input generation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- Buffers 3 rows for 3x3 sliding window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- Standard FPGA pattern (ref: FINN framework)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Output: argmax of 10 logits -&gt; 4-bit class 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</a:defRPr>
            </a:pPr>
            <a:r>
              <a:t>RTL Simulation: MAC Unit Waveform</a:t>
            </a:r>
          </a:p>
        </p:txBody>
      </p:sp>
      <p:pic>
        <p:nvPicPr>
          <p:cNvPr id="6" name="Picture 5" descr="waveform_r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116128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Signals: clock (100 MHz), reset, enable, clear_acc, data_in (uint8), acc_out (int32 accumulator)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5 test cases: Single MAC | Conv1 (27 MACs) | Conv2 (144 MACs) | FC (64 MACs) | Layer Sequencing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</a:defRPr>
            </a:pPr>
            <a:r>
              <a:t>RTL Simulation: MAC Unit Waveform</a:t>
            </a:r>
          </a:p>
        </p:txBody>
      </p:sp>
      <p:pic>
        <p:nvPicPr>
          <p:cNvPr id="6" name="Picture 5" descr="waveform_r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116128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Signals: clock (100 MHz), reset, enable, clear_acc, data_in (uint8), acc_out (int32 accumulator)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5 test cases: Single MAC | Conv1 (27 MACs) | Conv2 (144 MACs) | FC (64 MACs) | Layer Sequencing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</a:defRPr>
            </a:pPr>
            <a:r>
              <a:t>RTL vs Python: Side-by-Side Comparison</a:t>
            </a:r>
          </a:p>
        </p:txBody>
      </p:sp>
      <p:pic>
        <p:nvPicPr>
          <p:cNvPr id="7" name="Picture 6" descr="rtl_vs_pytho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11612880" cy="3657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4846320"/>
            <a:ext cx="11064240" cy="1645920"/>
          </a:xfrm>
          <a:prstGeom prst="rect">
            <a:avLst/>
          </a:prstGeom>
          <a:solidFill>
            <a:srgbClr val="0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</a:defRPr>
            </a:pPr>
            <a:r>
              <a:t>6/6 Tests: ALL MATCH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RTL hardware (iverilog) produces bit-exact same results as Python integer simulation</a:t>
            </a:r>
          </a:p>
          <a:p>
            <a:pPr algn="ctr">
              <a:defRPr sz="1400">
                <a:solidFill>
                  <a:srgbClr val="CCCCCC"/>
                </a:solidFill>
              </a:defRPr>
            </a:pPr>
            <a:r>
              <a:t>This validates that our MAC unit correctly implements uint8 x uint8 -&gt; int32 multiply-accumulate for all CNN layer types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</a:defRPr>
            </a:pPr>
            <a:r>
              <a:t>RTL vs Python: Conv2 Accumulator Trace</a:t>
            </a:r>
          </a:p>
        </p:txBody>
      </p:sp>
      <p:pic>
        <p:nvPicPr>
          <p:cNvPr id="10" name="Picture 9" descr="accumulator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11612880" cy="34747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4663440"/>
            <a:ext cx="5303520" cy="20116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What This Shows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Green solid = RTL accumulator value each clock cycle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Blue dashed = Python reference computation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Both reach exactly 2,263,944 after 144 MACs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RTL is cycle-accurate; Python is continuous reference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4663440"/>
            <a:ext cx="5303520" cy="20116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4754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51206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Proves RTL matches Python golden model exactly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Conv2 is the bottleneck layer (144 MACs, 52% of compute)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No overflow in int32 accumulator (max ~2.26M &lt;&lt; 2.1B)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Same approach validates all 5 layers of the CNN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Simulation Results: Behavioral FPGA Simulation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303520" cy="2743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Accuracy (10,000 test images)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Float32 (PyTorch):  F1 = 0.7400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Int8 (FPGA sim):    F1 = 0.7395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Delta:              -0.0005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Quantization loss is negligible (&lt;0.1%)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Int8 arithmetic produces same classifications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as floating-point on 99.9% of test images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097280"/>
            <a:ext cx="5303520" cy="2743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Clock Cycle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urier New"/>
              </a:defRPr>
            </a:pPr>
            <a:r>
              <a:t>Layer         MACs        Cycles    Time</a:t>
            </a:r>
          </a:p>
          <a:p>
            <a:pPr>
              <a:defRPr sz="1200">
                <a:solidFill>
                  <a:srgbClr val="FFFFFF"/>
                </a:solidFill>
                <a:latin typeface="Courier New"/>
              </a:defRPr>
            </a:pPr>
            <a:r>
              <a:t>Conv1       442,368       4,916    49 us</a:t>
            </a:r>
          </a:p>
          <a:p>
            <a:pPr>
              <a:defRPr sz="1200">
                <a:solidFill>
                  <a:srgbClr val="FFFFFF"/>
                </a:solidFill>
                <a:latin typeface="Courier New"/>
              </a:defRPr>
            </a:pPr>
            <a:r>
              <a:t>Conv2     1,179,648      13,108   131 us</a:t>
            </a:r>
          </a:p>
          <a:p>
            <a:pPr>
              <a:defRPr sz="1200">
                <a:solidFill>
                  <a:srgbClr val="FFFFFF"/>
                </a:solidFill>
                <a:latin typeface="Courier New"/>
              </a:defRPr>
            </a:pPr>
            <a:r>
              <a:t>Conv3       589,824       6,554    66 us</a:t>
            </a:r>
          </a:p>
          <a:p>
            <a:pPr>
              <a:defRPr sz="1200">
                <a:solidFill>
                  <a:srgbClr val="FFFFFF"/>
                </a:solidFill>
                <a:latin typeface="Courier New"/>
              </a:defRPr>
            </a:pPr>
            <a:r>
              <a:t>FC1          32,768         365     4 us</a:t>
            </a:r>
          </a:p>
          <a:p>
            <a:pPr>
              <a:defRPr sz="1200">
                <a:solidFill>
                  <a:srgbClr val="FFFFFF"/>
                </a:solidFill>
                <a:latin typeface="Courier New"/>
              </a:defRPr>
            </a:pPr>
            <a:r>
              <a:t>FC2             640           8     0 us</a:t>
            </a:r>
          </a:p>
          <a:p>
            <a:pPr>
              <a:defRPr sz="1200">
                <a:solidFill>
                  <a:srgbClr val="00E676"/>
                </a:solidFill>
                <a:latin typeface="Courier New"/>
              </a:defRPr>
            </a:pPr>
            <a:r>
              <a:t>TOTAL     2,245,248      24,951  0.25 ms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11064240" cy="25603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Per-Class F1 Scores (Int8 FPGA Simulation)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CCCCC"/>
                </a:solidFill>
                <a:latin typeface="Courier New"/>
              </a:defRPr>
            </a:pPr>
            <a:r>
              <a:t>airplane   0.7593    automobile  0.8566    bird    0.6468    cat     0.5253    deer    0.7084</a:t>
            </a:r>
          </a:p>
          <a:p>
            <a:pPr>
              <a:defRPr sz="1400">
                <a:solidFill>
                  <a:srgbClr val="CCCCCC"/>
                </a:solidFill>
                <a:latin typeface="Courier New"/>
              </a:defRPr>
            </a:pPr>
            <a:r>
              <a:t>dog        0.6507    frog        0.7845    horse   0.7934    ship    0.8430    truck   0.8274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Best: automobile (0.86), ship (0.84)  |  Hardest: cat (0.53) -- cats/dogs look similar at 32x32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FPGA Resource Usage &amp;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064240" cy="1371600"/>
          </a:xfrm>
          <a:prstGeom prst="rect">
            <a:avLst/>
          </a:prstGeom>
          <a:solidFill>
            <a:srgbClr val="0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676"/>
                </a:solidFill>
              </a:defRPr>
            </a:pPr>
            <a:r>
              <a:t>VERDICT: PASS -- Model fits on Basys 3 (XC7A35T)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66.1 KB / 225 KB BRAM  |  4,008 FPS @ 100 MHz  |  F1 = 0.7395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43200"/>
            <a:ext cx="5303520" cy="34747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Resource Utilization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urier New"/>
              </a:defRPr>
            </a:pPr>
            <a:r>
              <a:t>Resource        Used        Available    %</a:t>
            </a:r>
          </a:p>
          <a:p>
            <a:pPr>
              <a:defRPr sz="1300">
                <a:solidFill>
                  <a:srgbClr val="FFFFFF"/>
                </a:solidFill>
                <a:latin typeface="Courier New"/>
              </a:defRPr>
            </a:pPr>
            <a:r>
              <a:t>BRAM            66.1 KB     225 KB       29.4%</a:t>
            </a:r>
          </a:p>
          <a:p>
            <a:pPr>
              <a:defRPr sz="1300">
                <a:solidFill>
                  <a:srgbClr val="FFFFFF"/>
                </a:solidFill>
                <a:latin typeface="Courier New"/>
              </a:defRPr>
            </a:pPr>
            <a:r>
              <a:t>DSP48E1         90          90           reused</a:t>
            </a:r>
          </a:p>
          <a:p>
            <a:pPr>
              <a:defRPr sz="1300">
                <a:solidFill>
                  <a:srgbClr val="FFFFFF"/>
                </a:solidFill>
                <a:latin typeface="Courier New"/>
              </a:defRPr>
            </a:pPr>
            <a:r>
              <a:t>LUT             ~2,000      20,800       ~10%</a:t>
            </a:r>
          </a:p>
          <a:p>
            <a:pPr>
              <a:defRPr sz="1300">
                <a:solidFill>
                  <a:srgbClr val="FFFFFF"/>
                </a:solidFill>
                <a:latin typeface="Courier New"/>
              </a:defRPr>
            </a:pPr>
            <a:r>
              <a:t>Flip-Flops      ~1,500      41,600       ~4%</a:t>
            </a:r>
          </a:p>
          <a:p>
            <a:pPr>
              <a:defRPr sz="1300">
                <a:solidFill>
                  <a:srgbClr val="FFFFFF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FFFFFF"/>
                </a:solidFill>
                <a:latin typeface="Courier New"/>
              </a:defRPr>
            </a:pPr>
            <a:r>
              <a:t>Weight memory:       46.7 KB</a:t>
            </a:r>
          </a:p>
          <a:p>
            <a:pPr>
              <a:defRPr sz="1300">
                <a:solidFill>
                  <a:srgbClr val="FFFFFF"/>
                </a:solidFill>
                <a:latin typeface="Courier New"/>
              </a:defRPr>
            </a:pPr>
            <a:r>
              <a:t>Peak activation:     19.0 KB</a:t>
            </a:r>
          </a:p>
          <a:p>
            <a:pPr>
              <a:defRPr sz="1300">
                <a:solidFill>
                  <a:srgbClr val="FFFFFF"/>
                </a:solidFill>
                <a:latin typeface="Courier New"/>
              </a:defRPr>
            </a:pPr>
            <a:r>
              <a:t>Remaining BRAM:     158.9 KB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743200"/>
            <a:ext cx="5303520" cy="34747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834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Performance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29184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Latency: 0.25 ms per image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Throughput: 4,008 inferences/sec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Clock: 100 MHz (conservative for Artix-7)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Total cycles per inference: 24,951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Bottleneck: Conv2 (52.5% of compute)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- 1.18M MACs, 16 input channels x 32 output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Power: estimated &lt;5W total board power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vs. GPU: 200W+ for equivalent task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Cost: $150 (FPGA) + $30 (camera) = $180 total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Challenges &amp; Lessons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</a:defRPr>
            </a:pPr>
            <a:r>
              <a:t>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MobileNetV2 was 15x too large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- Original plan failed immediately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- Had to redesign from scratch for BRAM constraints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FC layers dominate weight memory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- FC1 alone: 32K of 48K total parameters (68%)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- Conv layers are surprisingly lightweight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Quantization tooling issues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- ONNX export needed extra dependencies (onnxscript)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- Int8 quantization requires calibration data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MAC testbench timing edge case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- Reset + enable on same cycle caused race condition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- Learned: always separate control signal assertions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</a:defRPr>
            </a:pPr>
            <a:r>
              <a:t>Lessons Learned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Design for constraints first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- Know your BRAM/DSP budget before choosing a model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- 225 KB sounds like nothing but fits a useful CNN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Behavioral simulation saves time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- Proved feasibility in 1 hour vs weeks of RTL iteration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- Python golden model provides verification reference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Int8 quantization is nearly free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- Only 0.05% F1 loss (0.7400 -&gt; 0.7395)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- 4x memory reduction with no practical accuracy cost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Co-design is essential for FPGA AI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- Can't just take a pretrained model and synthesize it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- Architecture must be designed for the target hardware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Future Work &amp;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303520" cy="2743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</a:defRPr>
            </a:pPr>
            <a: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Complete full RTL implementation (conv datapath, FSM)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Layer-by-layer RTL verification against Python golden model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Vivado synthesis and timing closure on XC7A35T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On-board demo: UART image input, 7-segment display output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Explore larger models if BRAM headroom allows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Pipelining: overlap layers for higher throughput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097280"/>
            <a:ext cx="5303520" cy="2743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</a:defRPr>
            </a:pPr>
            <a: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Useful edge AI does NOT require expensive GPUs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A $150 FPGA can classify 4,000 images/sec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Int8 quantization: 4x smaller, &lt;0.1% accuracy loss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Behavioral simulation: validate before you build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Co-design: model + hardware designed together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11064240" cy="2286000"/>
          </a:xfrm>
          <a:prstGeom prst="rect">
            <a:avLst/>
          </a:prstGeom>
          <a:solidFill>
            <a:srgbClr val="0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</a:defRPr>
            </a:pPr>
            <a:r>
              <a:t>Project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48K-parameter CNN  |  CIFAR-10 (10-class)  |  F1 = 0.74  |  74% accuracy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66 KB / 225 KB BRAM (29%)  |  4,008 FPS @ 100 MHz  |  0.25 ms latency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$150 hardware  |  &lt;5W power  |  No GPU, no cloud, no internet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</a:defRPr>
            </a:pPr>
            <a:r>
              <a:t>GitHub: github.com/Owen-yd-Wang/Design-Project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