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7" r:id="rId10"/>
    <p:sldId id="264" r:id="rId11"/>
    <p:sldId id="268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41"/>
    <p:restoredTop sz="94673"/>
  </p:normalViewPr>
  <p:slideViewPr>
    <p:cSldViewPr snapToGrid="0">
      <p:cViewPr varScale="1">
        <p:scale>
          <a:sx n="115" d="100"/>
          <a:sy n="115" d="100"/>
        </p:scale>
        <p:origin x="2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B66B8-7FAE-8347-8570-6912041DA0A6}" type="datetimeFigureOut">
              <a:rPr lang="en-CN" smtClean="0"/>
              <a:t>2026/2/21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6FA00-D192-544F-A319-0DBA07FB3E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934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6FA00-D192-544F-A319-0DBA07FB3E8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3910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3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9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01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41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34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46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7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24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2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87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24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0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592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07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04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920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5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237A15A-8538-480A-844A-16923BA6CF9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32C41D3-A0BA-4BC1-A90C-B050768BE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0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45333-91CC-8B7A-B1A7-A10419ADB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zh-CN" sz="4400" dirty="0"/>
              <a:t>CNN Image Classifier on FPGA</a:t>
            </a:r>
            <a:endParaRPr lang="zh-CN" altLang="en-US" sz="4400" cap="none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6B4F10-1868-0BD4-7DE0-C78BF3BC1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cap="none" dirty="0"/>
              <a:t>Che Li &amp; Owen Wang</a:t>
            </a:r>
          </a:p>
          <a:p>
            <a:r>
              <a:rPr lang="en-US" altLang="zh-CN" cap="none" dirty="0"/>
              <a:t>https://</a:t>
            </a:r>
            <a:r>
              <a:rPr lang="en-US" altLang="zh-CN" cap="none" dirty="0" err="1"/>
              <a:t>github.com</a:t>
            </a:r>
            <a:r>
              <a:rPr lang="en-US" altLang="zh-CN" cap="none" dirty="0"/>
              <a:t>/Owen-yd-Wang/Design-</a:t>
            </a:r>
            <a:r>
              <a:rPr lang="en-US" altLang="zh-CN" cap="none" dirty="0" err="1"/>
              <a:t>Project.git</a:t>
            </a:r>
            <a:endParaRPr lang="zh-CN" altLang="en-US" cap="none" dirty="0"/>
          </a:p>
        </p:txBody>
      </p:sp>
    </p:spTree>
    <p:extLst>
      <p:ext uri="{BB962C8B-B14F-4D97-AF65-F5344CB8AC3E}">
        <p14:creationId xmlns:p14="http://schemas.microsoft.com/office/powerpoint/2010/main" val="94404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B3AA9-417B-F10E-C6EA-0EFEA3A5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Table of Contents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A03C5-789F-21DD-A7CF-BC50D45CE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1. Problem Statement</a:t>
            </a:r>
            <a:endParaRPr lang="zh-CN" altLang="en-US" dirty="0"/>
          </a:p>
          <a:p>
            <a:r>
              <a:rPr sz="1600" dirty="0"/>
              <a:t>2. Pipeline</a:t>
            </a:r>
          </a:p>
          <a:p>
            <a:r>
              <a:rPr sz="1600" dirty="0"/>
              <a:t>3. Modified MobileNetV2</a:t>
            </a:r>
          </a:p>
          <a:p>
            <a:r>
              <a:rPr sz="1600" dirty="0"/>
              <a:t>4. Working with </a:t>
            </a:r>
            <a:r>
              <a:rPr sz="1600" dirty="0" err="1"/>
              <a:t>Cognichip</a:t>
            </a:r>
            <a:endParaRPr sz="1600" dirty="0"/>
          </a:p>
          <a:p>
            <a:r>
              <a:rPr sz="1600" dirty="0"/>
              <a:t>5. FPGA Considerations</a:t>
            </a:r>
          </a:p>
          <a:p>
            <a:r>
              <a:rPr sz="1600" dirty="0"/>
              <a:t>6. Results</a:t>
            </a:r>
          </a:p>
          <a:p>
            <a:r>
              <a:rPr sz="1600" dirty="0"/>
              <a:t>7. Challenges and Lessons Learned</a:t>
            </a:r>
          </a:p>
          <a:p>
            <a:r>
              <a:rPr sz="1600" dirty="0"/>
              <a:t>8. Looking Ahead</a:t>
            </a:r>
          </a:p>
        </p:txBody>
      </p:sp>
    </p:spTree>
    <p:extLst>
      <p:ext uri="{BB962C8B-B14F-4D97-AF65-F5344CB8AC3E}">
        <p14:creationId xmlns:p14="http://schemas.microsoft.com/office/powerpoint/2010/main" val="264123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53B42-1D82-C073-D341-DD9CE650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Statement</a:t>
            </a:r>
            <a:endParaRPr lang="zh-CN" altLang="en-US" dirty="0"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3BA66C1A-D21F-8B21-BE2D-35912BFE26C3}"/>
              </a:ext>
            </a:extLst>
          </p:cNvPr>
          <p:cNvSpPr txBox="1"/>
          <p:nvPr/>
        </p:nvSpPr>
        <p:spPr>
          <a:xfrm>
            <a:off x="6492240" y="2912110"/>
            <a:ext cx="484632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rPr dirty="0" err="1"/>
              <a:t>Xilnx</a:t>
            </a:r>
            <a:r>
              <a:rPr dirty="0"/>
              <a:t> Artix-7 XC7A35T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225 KB Block RAM (no external DRAM!)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90 DSP48E1 slices (multiply-accumulate units)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rPr dirty="0"/>
              <a:t>20,800 LUTs, 41,600 flip-flops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5CD70C1-CBBD-61EE-3E5E-E989332A9ED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4954" y="2603500"/>
            <a:ext cx="882565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  <a:defRPr sz="14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Edge AI needs: warehouses, factories, drones need real-time image classification</a:t>
            </a:r>
          </a:p>
          <a:p>
            <a:pPr marL="0" indent="0">
              <a:spcAft>
                <a:spcPts val="600"/>
              </a:spcAft>
              <a:buNone/>
              <a:defRPr sz="14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GPU solutions cost $500-$2000+, draw 200W+, need internet or bulky servers</a:t>
            </a:r>
          </a:p>
          <a:p>
            <a:pPr marL="0" indent="0">
              <a:spcAft>
                <a:spcPts val="600"/>
              </a:spcAft>
              <a:buNone/>
              <a:defRPr sz="14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Small businesses can't justify this cost for simple classification tasks</a:t>
            </a:r>
          </a:p>
          <a:p>
            <a:pPr marL="0" indent="0">
              <a:spcAft>
                <a:spcPts val="600"/>
              </a:spcAft>
              <a:buNone/>
              <a:defRPr sz="1400">
                <a:solidFill>
                  <a:srgbClr val="FFFFFF"/>
                </a:solidFill>
              </a:defRPr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Solutions:</a:t>
            </a:r>
          </a:p>
          <a:p>
            <a:pPr marL="0" indent="0"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pP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Design a custom tiny CNN (~48K params) that fits entirely in on-chip BRAM</a:t>
            </a:r>
          </a:p>
          <a:p>
            <a:pPr marL="0" indent="0"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Quantize to int8 (47 KB) -- only 29% of available BRAM, leaving room for control logic</a:t>
            </a:r>
          </a:p>
          <a:p>
            <a:pPr marL="0" indent="0"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Verify with behavioral FPGA simulation before writing RTL</a:t>
            </a:r>
          </a:p>
          <a:p>
            <a:pPr marL="0" indent="0"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lang="en-US" sz="1600" dirty="0"/>
              <a:t>/sec, $150 hardware cost, &lt;5W power, no internet needed</a:t>
            </a:r>
          </a:p>
          <a:p>
            <a:pPr marL="0" indent="0">
              <a:spcAft>
                <a:spcPts val="600"/>
              </a:spcAft>
              <a:buNone/>
              <a:defRPr sz="1400">
                <a:solidFill>
                  <a:srgbClr val="FFFFFF"/>
                </a:solidFill>
              </a:defRPr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62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F1E94-F1D3-0951-C98D-3BA1A7F1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EB5FC-2972-246A-452F-7A8D5810E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sz="1600" dirty="0"/>
              <a:t>Reference — our pipeline stages:</a:t>
            </a:r>
          </a:p>
          <a:p>
            <a:pPr marL="0" indent="0">
              <a:buNone/>
            </a:pPr>
            <a:r>
              <a:rPr sz="1600" dirty="0"/>
              <a:t>1. Train </a:t>
            </a:r>
            <a:r>
              <a:rPr lang="en-US" sz="1600" dirty="0"/>
              <a:t>a self designed</a:t>
            </a:r>
            <a:r>
              <a:rPr sz="1600" dirty="0"/>
              <a:t> CNN on CIFAR-10</a:t>
            </a:r>
            <a:r>
              <a:rPr lang="en-US" sz="1600" dirty="0"/>
              <a:t> dataset</a:t>
            </a:r>
            <a:endParaRPr sz="1600" dirty="0"/>
          </a:p>
          <a:p>
            <a:pPr marL="0" indent="0">
              <a:buNone/>
            </a:pPr>
            <a:r>
              <a:rPr sz="1600" dirty="0"/>
              <a:t>2. Export to ONNX </a:t>
            </a:r>
          </a:p>
          <a:p>
            <a:pPr marL="0" indent="0">
              <a:buNone/>
            </a:pPr>
            <a:r>
              <a:rPr lang="en-US" sz="1600" dirty="0"/>
              <a:t>3. Int8 quantization </a:t>
            </a:r>
          </a:p>
          <a:p>
            <a:pPr marL="0" indent="0">
              <a:buNone/>
            </a:pPr>
            <a:r>
              <a:rPr sz="1600" dirty="0"/>
              <a:t>4. Extract weights to .mem files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5. Behavioral FPGA simulation 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6. RTL verification — MAC unit vs Python </a:t>
            </a:r>
            <a:r>
              <a:rPr lang="en-US" sz="1600" dirty="0"/>
              <a:t>  &lt;- we are here</a:t>
            </a:r>
          </a:p>
          <a:p>
            <a:pPr marL="0" indent="0">
              <a:buNone/>
            </a:pPr>
            <a:r>
              <a:rPr sz="1600" dirty="0"/>
              <a:t>7. Synthesize on </a:t>
            </a:r>
            <a:r>
              <a:rPr sz="1600" dirty="0" err="1"/>
              <a:t>Basys</a:t>
            </a:r>
            <a:r>
              <a:rPr sz="1600" dirty="0"/>
              <a:t> 3 </a:t>
            </a:r>
            <a:r>
              <a:rPr lang="en-US" sz="1600" dirty="0"/>
              <a:t>board </a:t>
            </a:r>
            <a:r>
              <a:rPr lang="en-US" sz="1600" dirty="0" err="1"/>
              <a:t>fpga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79435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990A3-4E0C-CB95-32E8-0DDC4EFD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Modified MobileNetV2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D1F5E-F230-168F-CE73-A51822F0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5407" cy="40872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zh-CN" altLang="en-US" sz="1000" dirty="0"/>
          </a:p>
          <a:p>
            <a:pPr marL="0" indent="0">
              <a:buNone/>
            </a:pPr>
            <a:r>
              <a:rPr sz="2000" dirty="0"/>
              <a:t>Why </a:t>
            </a:r>
            <a:r>
              <a:rPr lang="en-US" sz="2000" dirty="0"/>
              <a:t>don’t we</a:t>
            </a:r>
            <a:r>
              <a:rPr sz="2000" dirty="0"/>
              <a:t> </a:t>
            </a:r>
            <a:r>
              <a:rPr lang="en-US" sz="2000" dirty="0"/>
              <a:t> just use </a:t>
            </a:r>
            <a:r>
              <a:rPr sz="2000" dirty="0"/>
              <a:t>MobileNetV2</a:t>
            </a:r>
            <a:r>
              <a:rPr lang="en-US" sz="2000" dirty="0"/>
              <a:t> ?</a:t>
            </a:r>
            <a:r>
              <a:rPr sz="2000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sz="2000" dirty="0"/>
              <a:t>- 3.5M params, 13.3 MB float32 → 15x too large for </a:t>
            </a:r>
            <a:r>
              <a:rPr sz="2000" dirty="0" err="1"/>
              <a:t>Basys</a:t>
            </a:r>
            <a:r>
              <a:rPr sz="2000" dirty="0"/>
              <a:t> 3</a:t>
            </a:r>
            <a:r>
              <a:rPr lang="en-US" sz="2000" dirty="0"/>
              <a:t>( the board for the project)</a:t>
            </a:r>
          </a:p>
          <a:p>
            <a:pPr marL="0" indent="0">
              <a:buNone/>
            </a:pPr>
            <a:r>
              <a:rPr sz="2000" dirty="0"/>
              <a:t>- Depth wise separable convolutions need complex control logic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Our </a:t>
            </a:r>
            <a:r>
              <a:rPr lang="en-US" sz="2000" dirty="0"/>
              <a:t>modified </a:t>
            </a:r>
            <a:r>
              <a:rPr sz="2000" dirty="0"/>
              <a:t>CNN (~48K params, 47 KB int8):</a:t>
            </a:r>
          </a:p>
          <a:p>
            <a:pPr marL="0" indent="0">
              <a:buNone/>
            </a:pPr>
            <a:r>
              <a:rPr sz="2000" dirty="0"/>
              <a:t>  Conv1: 3→16, 3×3, pad=1 → </a:t>
            </a:r>
            <a:r>
              <a:rPr sz="2000" dirty="0" err="1"/>
              <a:t>ReLU</a:t>
            </a:r>
            <a:r>
              <a:rPr sz="2000" dirty="0"/>
              <a:t> → MaxPool2×2  →  16×16×16</a:t>
            </a:r>
            <a:endParaRPr lang="en-US" sz="2000" dirty="0"/>
          </a:p>
          <a:p>
            <a:pPr marL="0" indent="0">
              <a:buNone/>
            </a:pPr>
            <a:r>
              <a:rPr sz="2000" dirty="0"/>
              <a:t>Conv2: 16→32, 3×3, pad=1 → </a:t>
            </a:r>
            <a:r>
              <a:rPr sz="2000" dirty="0" err="1"/>
              <a:t>ReLU</a:t>
            </a:r>
            <a:r>
              <a:rPr sz="2000" dirty="0"/>
              <a:t> → MaxPool2×2  →  8×8×32</a:t>
            </a:r>
          </a:p>
          <a:p>
            <a:pPr marL="0" indent="0">
              <a:buNone/>
            </a:pPr>
            <a:r>
              <a:rPr sz="2000" dirty="0"/>
              <a:t>  Conv3: 32→32, 3×3, pad=1 → </a:t>
            </a:r>
            <a:r>
              <a:rPr sz="2000" dirty="0" err="1"/>
              <a:t>ReLU</a:t>
            </a:r>
            <a:r>
              <a:rPr sz="2000" dirty="0"/>
              <a:t> → MaxPool2×2  →  4×4×32</a:t>
            </a:r>
          </a:p>
          <a:p>
            <a:pPr marL="0" indent="0">
              <a:buNone/>
            </a:pPr>
            <a:r>
              <a:rPr sz="2000" dirty="0"/>
              <a:t>  FC1: 512→64 → </a:t>
            </a:r>
            <a:r>
              <a:rPr sz="2000" dirty="0" err="1"/>
              <a:t>ReLU</a:t>
            </a:r>
            <a:endParaRPr sz="2000" dirty="0"/>
          </a:p>
          <a:p>
            <a:pPr marL="0" indent="0">
              <a:buNone/>
            </a:pPr>
            <a:r>
              <a:rPr sz="2000" dirty="0"/>
              <a:t>  FC2: 64→10 (10 CIFAR-10 classes)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Conclusion</a:t>
            </a:r>
            <a:endParaRPr sz="2000" dirty="0"/>
          </a:p>
          <a:p>
            <a:pPr marL="0" indent="0">
              <a:buNone/>
            </a:pPr>
            <a:r>
              <a:rPr sz="2000" dirty="0"/>
              <a:t>  Total: 47,818 params | Int8 size: ~47 KB | BRAM usage: 29.4%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71819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DB046-0982-A81E-8E19-FECD8CA2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Working with </a:t>
            </a:r>
            <a:r>
              <a:rPr lang="en-US" altLang="zh-CN" dirty="0" err="1"/>
              <a:t>Cognichip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5FF46-CF92-4582-5170-B2D9996B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813" y="2413929"/>
            <a:ext cx="5480022" cy="23364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1400" dirty="0" err="1"/>
              <a:t>Cognichip</a:t>
            </a:r>
            <a:r>
              <a:rPr sz="1400" dirty="0"/>
              <a:t> generated the following RTL modules:</a:t>
            </a:r>
          </a:p>
          <a:p>
            <a:pPr marL="0" indent="0">
              <a:buNone/>
            </a:pPr>
            <a:r>
              <a:rPr sz="1400" dirty="0"/>
              <a:t>  - mac_uint8_int32.sv — MAC unit (uint8 × uint8 → uint32)</a:t>
            </a:r>
          </a:p>
          <a:p>
            <a:pPr marL="0" indent="0">
              <a:buNone/>
            </a:pPr>
            <a:r>
              <a:rPr sz="1400" dirty="0"/>
              <a:t>  - line_buffer_3x3.sv — 3-line buffer for sliding window</a:t>
            </a:r>
          </a:p>
          <a:p>
            <a:pPr marL="0" indent="0">
              <a:buNone/>
            </a:pPr>
            <a:r>
              <a:rPr sz="1400" dirty="0"/>
              <a:t>  - depthwise_conv3x3_engine.sv — 3×3 </a:t>
            </a:r>
            <a:r>
              <a:rPr sz="1400" dirty="0" err="1"/>
              <a:t>depthwise</a:t>
            </a:r>
            <a:r>
              <a:rPr sz="1400" dirty="0"/>
              <a:t> convolution engine</a:t>
            </a:r>
          </a:p>
          <a:p>
            <a:pPr marL="0" indent="0">
              <a:buNone/>
            </a:pPr>
            <a:r>
              <a:rPr sz="1400" dirty="0"/>
              <a:t>  - pointwise_conv1x1_engine.sv — 1×1 pointwise convolution engine</a:t>
            </a:r>
          </a:p>
          <a:p>
            <a:pPr marL="0" indent="0">
              <a:buNone/>
            </a:pPr>
            <a:r>
              <a:rPr sz="1400" dirty="0"/>
              <a:t>  - </a:t>
            </a:r>
            <a:r>
              <a:rPr sz="1400" dirty="0" err="1"/>
              <a:t>inverted_residual_block.sv</a:t>
            </a:r>
            <a:r>
              <a:rPr sz="1400" dirty="0"/>
              <a:t> — MobileNetV2 inverted residual block</a:t>
            </a:r>
          </a:p>
          <a:p>
            <a:endParaRPr sz="1400" dirty="0"/>
          </a:p>
          <a:p>
            <a:endParaRPr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86E1E-C195-C440-10E8-125B8CAA6D34}"/>
              </a:ext>
            </a:extLst>
          </p:cNvPr>
          <p:cNvSpPr txBox="1"/>
          <p:nvPr/>
        </p:nvSpPr>
        <p:spPr>
          <a:xfrm>
            <a:off x="6378498" y="2413929"/>
            <a:ext cx="5480022" cy="189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Corresponding testbenches:</a:t>
            </a: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- tb_mac_uint8_int32.sv</a:t>
            </a: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tb_depthwise_conv3x3_engine.sv</a:t>
            </a: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- tb_pointwise_conv1x1_engine.sv</a:t>
            </a: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-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tb_inverted_residual_block.sv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-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tb_complete_inference.sv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— full integrated test</a:t>
            </a:r>
          </a:p>
          <a:p>
            <a:pPr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- Generated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sim.vvp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simulation binary (Icarus Verilog)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62182-AA7F-0F35-1F0F-3BA5B18967FE}"/>
              </a:ext>
            </a:extLst>
          </p:cNvPr>
          <p:cNvSpPr txBox="1"/>
          <p:nvPr/>
        </p:nvSpPr>
        <p:spPr>
          <a:xfrm>
            <a:off x="1018944" y="5483717"/>
            <a:ext cx="10473781" cy="63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used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Cognichip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generate functional modules (MAC, line buffer, conv engines, etc.) and numerous testbenches. Individual module tests pass, but the integrated inference test is not yet working — we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willdebug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resolve this in the next phase.</a:t>
            </a:r>
          </a:p>
        </p:txBody>
      </p:sp>
    </p:spTree>
    <p:extLst>
      <p:ext uri="{BB962C8B-B14F-4D97-AF65-F5344CB8AC3E}">
        <p14:creationId xmlns:p14="http://schemas.microsoft.com/office/powerpoint/2010/main" val="3923695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0A326-346B-DB7C-A684-B3B628F4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 Considerations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2A5B03-1235-2572-EC85-C2B54C62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254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Memory (BRAM)</a:t>
            </a:r>
            <a:r>
              <a:rPr lang="en-CN" sz="1600" dirty="0"/>
              <a:t>:</a:t>
            </a:r>
            <a:endParaRPr sz="1600" dirty="0"/>
          </a:p>
          <a:p>
            <a:pPr marL="0" indent="0">
              <a:buNone/>
            </a:pPr>
            <a:r>
              <a:rPr sz="1600" dirty="0"/>
              <a:t> - 225 KB total, no external DRAM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  - Weights: 47 KB</a:t>
            </a:r>
            <a:r>
              <a:rPr lang="en-CN" sz="1600" dirty="0"/>
              <a:t> </a:t>
            </a:r>
            <a:r>
              <a:rPr lang="en-US" sz="1600" dirty="0"/>
              <a:t> (Only takes about 30% memory on the board)</a:t>
            </a:r>
            <a:endParaRPr sz="1600" dirty="0"/>
          </a:p>
          <a:p>
            <a:pPr marL="0" indent="0">
              <a:buNone/>
            </a:pPr>
            <a:r>
              <a:rPr sz="1600" dirty="0"/>
              <a:t>  - Activations: largest intermediate = 16 KB</a:t>
            </a:r>
          </a:p>
          <a:p>
            <a:pPr marL="0" indent="0">
              <a:buNone/>
            </a:pPr>
            <a:r>
              <a:rPr sz="1600" dirty="0"/>
              <a:t> - Peak usage: 66.1 KB / 225 KB</a:t>
            </a:r>
          </a:p>
          <a:p>
            <a:endParaRPr sz="1600" dirty="0"/>
          </a:p>
          <a:p>
            <a:pPr marL="0" indent="0">
              <a:buNone/>
            </a:pPr>
            <a:r>
              <a:rPr lang="en-US" sz="1600" dirty="0"/>
              <a:t>Arithmetic:</a:t>
            </a:r>
          </a:p>
          <a:p>
            <a:pPr marL="0" indent="0">
              <a:buNone/>
            </a:pPr>
            <a:r>
              <a:rPr lang="en-US" sz="1600" dirty="0"/>
              <a:t>- MAC unit uses unsigned uint8 - Accumulator is 32-bit to avoid overflow</a:t>
            </a:r>
          </a:p>
          <a:p>
            <a:pPr marL="0" indent="0">
              <a:buNone/>
            </a:pPr>
            <a:r>
              <a:rPr lang="en-US" sz="1600" dirty="0"/>
              <a:t> - Time-multiplexed: one MAC unit shared across all layers</a:t>
            </a:r>
          </a:p>
          <a:p>
            <a:pPr marL="0" indent="0"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74892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B22F33-A9E8-A9D4-6EEA-27A088028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EBEBEB"/>
                </a:solidFill>
              </a:rPr>
              <a:t>Results</a:t>
            </a:r>
            <a:endParaRPr lang="zh-CN" altLang="en-US" dirty="0">
              <a:solidFill>
                <a:srgbClr val="EBEBEB"/>
              </a:solidFill>
            </a:endParaRPr>
          </a:p>
        </p:txBody>
      </p:sp>
      <p:pic>
        <p:nvPicPr>
          <p:cNvPr id="4" name="Picture 3" descr="waveform_rtl.png">
            <a:extLst>
              <a:ext uri="{FF2B5EF4-FFF2-40B4-BE49-F238E27FC236}">
                <a16:creationId xmlns:a16="http://schemas.microsoft.com/office/drawing/2014/main" id="{D93F5C6D-5D1F-21B5-C5BF-46C360B2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1439636"/>
            <a:ext cx="6391533" cy="39787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7ACAB-B715-2E87-7C69-90E35856D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altLang="zh-CN" sz="105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Accuracy (CIFAR-10 test set, 10,000 images):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Float32: F1 = 0.7400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Int8:    F1 = 0.7395  (delta: -0.0005)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Performance  (100 MHz):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- Throughput: 4,008 images/sec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Latency: 0.25 </a:t>
            </a:r>
            <a:r>
              <a:rPr lang="en-US" sz="1200" dirty="0" err="1">
                <a:solidFill>
                  <a:srgbClr val="FFFFFF"/>
                </a:solidFill>
              </a:rPr>
              <a:t>ms</a:t>
            </a:r>
            <a:r>
              <a:rPr lang="en-US" sz="1200" dirty="0">
                <a:solidFill>
                  <a:srgbClr val="FFFFFF"/>
                </a:solidFill>
              </a:rPr>
              <a:t> per image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RTL Verification: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 - 4/4 tests PASS — bit-exact match with Python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7579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pic>
        <p:nvPicPr>
          <p:cNvPr id="4" name="Content Placeholder 3" descr="accumulator_growth.png">
            <a:extLst>
              <a:ext uri="{FF2B5EF4-FFF2-40B4-BE49-F238E27FC236}">
                <a16:creationId xmlns:a16="http://schemas.microsoft.com/office/drawing/2014/main" id="{E5C2B410-325F-069B-A2D1-DF897CD17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066" y="1669796"/>
            <a:ext cx="10035037" cy="351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9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28FD2-2923-0C3E-7925-302F6E97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 and Lessons Learned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20071-4985-4544-1C69-8F2C29D5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151" y="2670408"/>
            <a:ext cx="4941046" cy="3416300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1.MobileNetV2 was 15x too large</a:t>
            </a:r>
          </a:p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  - Original plan failed immediately</a:t>
            </a:r>
          </a:p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  - Had to redesign from scratch for BRAM constraints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2.FC layers dominate weight memory</a:t>
            </a:r>
          </a:p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  - FC1 alone: 32K of 48K total parameters (68%)</a:t>
            </a:r>
          </a:p>
          <a:p>
            <a:pPr marL="0" indent="0">
              <a:spcAft>
                <a:spcPts val="600"/>
              </a:spcAft>
              <a:buNone/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/>
                </a:solidFill>
              </a:rPr>
              <a:t> - Conv layers are surprisingly lightweight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AF29A-981F-457C-1EA0-F26C30730DD1}"/>
              </a:ext>
            </a:extLst>
          </p:cNvPr>
          <p:cNvSpPr txBox="1"/>
          <p:nvPr/>
        </p:nvSpPr>
        <p:spPr>
          <a:xfrm>
            <a:off x="5898996" y="2457173"/>
            <a:ext cx="5519853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endParaRPr lang="en-US" sz="1600" dirty="0">
              <a:solidFill>
                <a:schemeClr val="tx2"/>
              </a:solidFill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3.Quantization tooling issues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  - ONNX export needed extra dependencies (</a:t>
            </a:r>
            <a:r>
              <a:rPr lang="en-US" sz="1600" dirty="0" err="1">
                <a:solidFill>
                  <a:schemeClr val="tx2"/>
                </a:solidFill>
              </a:rPr>
              <a:t>onnxscript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  - Int8 quantization requires calibration data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endParaRPr lang="en-US" sz="1600" dirty="0">
              <a:solidFill>
                <a:schemeClr val="tx2"/>
              </a:solidFill>
            </a:endParaRPr>
          </a:p>
          <a:p>
            <a:endParaRPr lang="en-CN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46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pic>
        <p:nvPicPr>
          <p:cNvPr id="5" name="Content Placeholder 4" descr="A close-up of a chart&#10;&#10;AI-generated content may be incorrect.">
            <a:extLst>
              <a:ext uri="{FF2B5EF4-FFF2-40B4-BE49-F238E27FC236}">
                <a16:creationId xmlns:a16="http://schemas.microsoft.com/office/drawing/2014/main" id="{6C0B5E1F-4B3E-1508-CB65-855DE8D1E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76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40" name="Freeform: Shape 30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31D50-BE87-A462-396E-37B7CA23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99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>
                <a:solidFill>
                  <a:srgbClr val="EBEBEB"/>
                </a:solidFill>
              </a:rPr>
              <a:t>Milestones Tracker</a:t>
            </a:r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3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N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C3DF159-A62C-40A0-86EB-55F5FCDB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89338-EB67-002A-B268-4C7E5960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5" y="4517136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Risks Management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1F1C9-2DD0-49C3-DA31-65C95A8F7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6" y="1683518"/>
            <a:ext cx="12286175" cy="224222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5DDC647-9031-4B8C-B212-04560303C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7896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CE127-1133-6353-1721-04A2F294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Looking ahead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A24A8-FBE1-661E-F9F2-198435844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762090" cy="4053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Next steps: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000" dirty="0"/>
              <a:t>- Synthesize full CNN 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sz="2000" dirty="0"/>
              <a:t>- </a:t>
            </a:r>
            <a:r>
              <a:rPr lang="en-US" sz="2000" dirty="0"/>
              <a:t>FPGA board wiring actualize</a:t>
            </a:r>
            <a:endParaRPr sz="2000" dirty="0"/>
          </a:p>
          <a:p>
            <a:pPr marL="0" indent="0">
              <a:lnSpc>
                <a:spcPct val="200000"/>
              </a:lnSpc>
              <a:buNone/>
            </a:pPr>
            <a:r>
              <a:rPr sz="2000" dirty="0"/>
              <a:t> - Multi-filter parallelism to improve throughput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000" dirty="0"/>
              <a:t> - Live demo: camera → FPGA → classification result</a:t>
            </a:r>
          </a:p>
        </p:txBody>
      </p:sp>
    </p:spTree>
    <p:extLst>
      <p:ext uri="{BB962C8B-B14F-4D97-AF65-F5344CB8AC3E}">
        <p14:creationId xmlns:p14="http://schemas.microsoft.com/office/powerpoint/2010/main" val="4100562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200"/>
              <a:t>[1] CIFAR-10 Dataset — A. Krizhevsky, "Learning Multiple Layers of Features from Tiny Images," 2009</a:t>
            </a:r>
          </a:p>
          <a:p>
            <a:r>
              <a:rPr sz="1200"/>
              <a:t>[2] PyTorch — A. Paszke et al., "PyTorch: An Imperative Style, High-Performance Deep Learning Library," NeurIPS 2019</a:t>
            </a:r>
          </a:p>
          <a:p>
            <a:r>
              <a:rPr sz="1200"/>
              <a:t>[3] ONNX Runtime — github.com/microsoft/onnxruntime</a:t>
            </a:r>
          </a:p>
          <a:p>
            <a:r>
              <a:rPr sz="1200"/>
              <a:t>[4] Xilinx Artix-7 FPGA Family Data Sheet (DS180)</a:t>
            </a:r>
          </a:p>
          <a:p>
            <a:r>
              <a:rPr sz="1200"/>
              <a:t>[5] Basys 3 Reference Manual — Digilent, digilent.com/reference/programmable-logic/basys-3/reference-manual</a:t>
            </a:r>
          </a:p>
          <a:p>
            <a:r>
              <a:rPr sz="1200"/>
              <a:t>[6] MobileNetV2 — M. Sandler et al., "MobileNetV2: Inverted Residuals and Linear Bottlenecks," CVPR 2018</a:t>
            </a:r>
          </a:p>
          <a:p>
            <a:r>
              <a:rPr sz="1200"/>
              <a:t>[7] FINN Framework — M. Blott et al., "FINN-R: An End-to-End Deep-Learning Framework for Fast Exploration of Quantized Neural Networks," ACM TRETS 2018</a:t>
            </a:r>
          </a:p>
          <a:p>
            <a:r>
              <a:rPr sz="1200"/>
              <a:t>[8] Cognichip Co-Design Platform — github.com/Owen-yd-Wang/Design-Project</a:t>
            </a:r>
          </a:p>
          <a:p>
            <a:r>
              <a:rPr sz="1200"/>
              <a:t>[9] Icarus Verilog — S. Williams, iverilog.icarus.com</a:t>
            </a:r>
          </a:p>
          <a:p>
            <a:r>
              <a:rPr sz="1200"/>
              <a:t>[10] Integer Quantization for Deep Learning Inference — NVIDIA, arXiv:2004.09602, 2020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012519FE-3B67-2D8A-A9D2-463A75E8F0B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412</TotalTime>
  <Words>1036</Words>
  <Application>Microsoft Macintosh PowerPoint</Application>
  <PresentationFormat>Widescreen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离子会议室</vt:lpstr>
      <vt:lpstr>CNN Image Classifier on FPGA</vt:lpstr>
      <vt:lpstr>Table of Contents</vt:lpstr>
      <vt:lpstr>Problem Statement</vt:lpstr>
      <vt:lpstr>Pipeline</vt:lpstr>
      <vt:lpstr>Modified MobileNetV2</vt:lpstr>
      <vt:lpstr>Working with Cognichip</vt:lpstr>
      <vt:lpstr>FPGA Considerations</vt:lpstr>
      <vt:lpstr>Results</vt:lpstr>
      <vt:lpstr>PowerPoint Presentation</vt:lpstr>
      <vt:lpstr>Challenge and Lessons Learned</vt:lpstr>
      <vt:lpstr>Milestones Tracker</vt:lpstr>
      <vt:lpstr>Risks Management</vt:lpstr>
      <vt:lpstr>Looking ahead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Wang</dc:creator>
  <cp:lastModifiedBy>Che Li</cp:lastModifiedBy>
  <cp:revision>9</cp:revision>
  <dcterms:created xsi:type="dcterms:W3CDTF">2026-02-19T20:02:45Z</dcterms:created>
  <dcterms:modified xsi:type="dcterms:W3CDTF">2026-02-20T22:52:26Z</dcterms:modified>
</cp:coreProperties>
</file>